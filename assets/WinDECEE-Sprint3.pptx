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We're Group 4 — WinDECEE. Six of us total, four DE students and two from Chemical Engineering.
Quick context — at our kickoff we presented a different concept focused on comparing three recycling routes side by side. After looking more carefully at the course brief and at what past project groups have built, we realised our concept was leaning more towards a comparison dashboard than a process visualisation. So we pivoted.
The pivoted Blade Loop keeps the spirit of the original idea, but the core is now a single specific chemical engineering process — thermal co-processing of decommissioned wind turbine blades — visualised so that anyone, even without a chemistry background, can understand how blade waste becomes useful material for the cement industry.
Today we'll walk you through: the work plan, who's doing what, our first wireframe, and one open question on deployment we'd like your input on. About ten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agenda. Four things.
First, what we're building — the project concept after our pivot.
Second, who's doing what — task division across the team.
Third, our first wireframe — this is genuinely a first concept, expect it to evolve.
Fourth, one open question we'd like your input on at the end.
We've kept this short — total time around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first wireframe. Three views.
FIRST VIEW — PROCESS. A flowsheet of the recycling plant: feed mixer, heater, solid-gas separator, secondary separator. The user can adjust temperature, blade load, glass fibre percentage, and pick where the blade is coming from and where the cement kiln is. Live KPIs at the bottom — mass processed, CO2 impact, energy use, cost. Click any stage to drill down into a 3D scene of that piece of equipment.
SECOND VIEW — DASHBOARD. The same numbers in a cleaner overview, plus our human-scale CO2 translator. Instead of just showing 480 kg of CO2 saved which means nothing to most people, we translate it into things people understand — flights from Berlin to New York, kilometres by car, trees absorbing for a year, months of household electricity. That's how we make the impact real.
THIRD VIEW — STORY MODE. A 5-minute guided tour for first-time users. Same 3D scene as the process view, but the camera focuses on one stage at a time with a side panel explaining what's happening chemically. Once the tour finishes, free exploration unlocks.
This is a first concept — naming and exact widgets will evolve. But the three-view structure feels right for what the course is asking us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open question for you.
The course brief says 'interactive online application'. We've read that as web. As of today, we've deployed our placeholder page to GitHub Pages — the URL is live, the deployment pipeline works end-to-end. We're using Unity which exports to WebGL — that runs in any browser, no install required.
We may move to Vercel or Netlify later if we need faster loads — but the principle stays the same. It's a web app.
However — looking through past course projects, many shipped as Windows .exe and Android .apk. Unity can build those from the same project, it's just one extra build target.
Our question — do you have a preference? If you'd like a desktop or mobile build for evaluation, we'll prioritise that. If web is fine, we'll focus there. The core work is the same — it's just where we put the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from us.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_de_hero.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57200" y="411480"/>
            <a:ext cx="8229600" cy="256032"/>
          </a:xfrm>
          <a:prstGeom prst="rect">
            <a:avLst/>
          </a:prstGeom>
          <a:noFill/>
          <a:ln/>
        </p:spPr>
        <p:txBody>
          <a:bodyPr wrap="square" lIns="0" tIns="0" rIns="0" bIns="0" rtlCol="0" anchor="ctr"/>
          <a:lstStyle/>
          <a:p>
            <a:pPr indent="0" marL="0">
              <a:buNone/>
            </a:pPr>
            <a:r>
              <a:rPr lang="en-US" sz="900" b="1" spc="600" kern="0" dirty="0">
                <a:solidFill>
                  <a:srgbClr val="7A7A7A"/>
                </a:solidFill>
                <a:latin typeface="Calibri" pitchFamily="34" charset="0"/>
                <a:ea typeface="Calibri" pitchFamily="34" charset="-122"/>
                <a:cs typeface="Calibri" pitchFamily="34" charset="-120"/>
              </a:rPr>
              <a:t>SPRINT 3   ·   05.06.2026</a:t>
            </a:r>
            <a:endParaRPr lang="en-US" sz="900" dirty="0"/>
          </a:p>
        </p:txBody>
      </p:sp>
      <p:sp>
        <p:nvSpPr>
          <p:cNvPr id="3" name="Text 1"/>
          <p:cNvSpPr/>
          <p:nvPr/>
        </p:nvSpPr>
        <p:spPr>
          <a:xfrm>
            <a:off x="457200" y="1371600"/>
            <a:ext cx="8229600" cy="1280160"/>
          </a:xfrm>
          <a:prstGeom prst="rect">
            <a:avLst/>
          </a:prstGeom>
          <a:noFill/>
          <a:ln/>
        </p:spPr>
        <p:txBody>
          <a:bodyPr wrap="square" lIns="0" tIns="0" rIns="0" bIns="0" rtlCol="0" anchor="ctr"/>
          <a:lstStyle/>
          <a:p>
            <a:pPr indent="0" marL="0">
              <a:buNone/>
            </a:pPr>
            <a:r>
              <a:rPr lang="en-US" sz="8000" spc="-100" kern="0" dirty="0">
                <a:solidFill>
                  <a:srgbClr val="1A1A1A"/>
                </a:solidFill>
                <a:latin typeface="Calibri Light" pitchFamily="34" charset="0"/>
                <a:ea typeface="Calibri Light" pitchFamily="34" charset="-122"/>
                <a:cs typeface="Calibri Light" pitchFamily="34" charset="-120"/>
              </a:rPr>
              <a:t>BLADE LOOP</a:t>
            </a:r>
            <a:endParaRPr lang="en-US" sz="8000" dirty="0"/>
          </a:p>
        </p:txBody>
      </p:sp>
      <p:sp>
        <p:nvSpPr>
          <p:cNvPr id="4" name="Text 2"/>
          <p:cNvSpPr/>
          <p:nvPr/>
        </p:nvSpPr>
        <p:spPr>
          <a:xfrm>
            <a:off x="457200" y="2697480"/>
            <a:ext cx="7863840" cy="822960"/>
          </a:xfrm>
          <a:prstGeom prst="rect">
            <a:avLst/>
          </a:prstGeom>
          <a:noFill/>
          <a:ln/>
        </p:spPr>
        <p:txBody>
          <a:bodyPr wrap="square" lIns="0" tIns="0" rIns="0" bIns="0" rtlCol="0" anchor="ctr"/>
          <a:lstStyle/>
          <a:p>
            <a:pPr indent="0" marL="0">
              <a:buNone/>
            </a:pPr>
            <a:r>
              <a:rPr lang="en-US" sz="1800" dirty="0">
                <a:solidFill>
                  <a:srgbClr val="7A7A7A"/>
                </a:solidFill>
                <a:latin typeface="Calibri Light" pitchFamily="34" charset="0"/>
                <a:ea typeface="Calibri Light" pitchFamily="34" charset="-122"/>
                <a:cs typeface="Calibri Light" pitchFamily="34" charset="-120"/>
              </a:rPr>
              <a:t>3D process plant modelled in Blender — four stages,</a:t>
            </a:r>
            <a:endParaRPr lang="en-US" sz="1800" dirty="0"/>
          </a:p>
          <a:p>
            <a:pPr indent="0" marL="0">
              <a:buNone/>
            </a:pPr>
            <a:r>
              <a:rPr lang="en-US" sz="1800" dirty="0">
                <a:solidFill>
                  <a:srgbClr val="7A7A7A"/>
                </a:solidFill>
                <a:latin typeface="Calibri Light" pitchFamily="34" charset="0"/>
                <a:ea typeface="Calibri Light" pitchFamily="34" charset="-122"/>
                <a:cs typeface="Calibri Light" pitchFamily="34" charset="-120"/>
              </a:rPr>
              <a:t>ready for Unity scene assembly.</a:t>
            </a:r>
            <a:endParaRPr lang="en-US" sz="1800" dirty="0"/>
          </a:p>
        </p:txBody>
      </p:sp>
      <p:sp>
        <p:nvSpPr>
          <p:cNvPr id="5" name="Text 3"/>
          <p:cNvSpPr/>
          <p:nvPr/>
        </p:nvSpPr>
        <p:spPr>
          <a:xfrm>
            <a:off x="457200" y="4434840"/>
            <a:ext cx="8229600" cy="256032"/>
          </a:xfrm>
          <a:prstGeom prst="rect">
            <a:avLst/>
          </a:prstGeom>
          <a:noFill/>
          <a:ln/>
        </p:spPr>
        <p:txBody>
          <a:bodyPr wrap="square" lIns="0" tIns="0" rIns="0" bIns="0" rtlCol="0" anchor="ctr"/>
          <a:lstStyle/>
          <a:p>
            <a:pPr indent="0" marL="0">
              <a:buNone/>
            </a:pPr>
            <a:r>
              <a:rPr lang="en-US" sz="900" b="1" spc="500" kern="0" dirty="0">
                <a:solidFill>
                  <a:srgbClr val="1A1A1A"/>
                </a:solidFill>
                <a:latin typeface="Calibri" pitchFamily="34" charset="0"/>
                <a:ea typeface="Calibri" pitchFamily="34" charset="-122"/>
                <a:cs typeface="Calibri" pitchFamily="34" charset="-120"/>
              </a:rPr>
              <a:t>GROUP 4 — WinDECEE   ·   DE-PROJECT SS 2026   ·   OvGU MAGDEBURG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57200" y="411480"/>
            <a:ext cx="8229600" cy="256032"/>
          </a:xfrm>
          <a:prstGeom prst="rect">
            <a:avLst/>
          </a:prstGeom>
          <a:noFill/>
          <a:ln/>
        </p:spPr>
        <p:txBody>
          <a:bodyPr wrap="square" lIns="0" tIns="0" rIns="0" bIns="0" rtlCol="0" anchor="ctr"/>
          <a:lstStyle/>
          <a:p>
            <a:pPr indent="0" marL="0">
              <a:buNone/>
            </a:pPr>
            <a:r>
              <a:rPr lang="en-US" sz="900" b="1" spc="600" kern="0" dirty="0">
                <a:solidFill>
                  <a:srgbClr val="7A7A7A"/>
                </a:solidFill>
                <a:latin typeface="Calibri" pitchFamily="34" charset="0"/>
                <a:ea typeface="Calibri" pitchFamily="34" charset="-122"/>
                <a:cs typeface="Calibri" pitchFamily="34" charset="-120"/>
              </a:rPr>
              <a:t>AGENDA</a:t>
            </a:r>
            <a:endParaRPr lang="en-US" sz="900" dirty="0"/>
          </a:p>
        </p:txBody>
      </p:sp>
      <p:sp>
        <p:nvSpPr>
          <p:cNvPr id="3" name="Text 1"/>
          <p:cNvSpPr/>
          <p:nvPr/>
        </p:nvSpPr>
        <p:spPr>
          <a:xfrm>
            <a:off x="457200" y="1143000"/>
            <a:ext cx="914400" cy="640080"/>
          </a:xfrm>
          <a:prstGeom prst="rect">
            <a:avLst/>
          </a:prstGeom>
          <a:noFill/>
          <a:ln/>
        </p:spPr>
        <p:txBody>
          <a:bodyPr wrap="square" lIns="0" tIns="0" rIns="0" bIns="0" rtlCol="0" anchor="ctr"/>
          <a:lstStyle/>
          <a:p>
            <a:pPr indent="0" marL="0">
              <a:buNone/>
            </a:pPr>
            <a:r>
              <a:rPr lang="en-US" sz="3600" dirty="0">
                <a:solidFill>
                  <a:srgbClr val="1A1A1A"/>
                </a:solidFill>
                <a:latin typeface="Calibri Light" pitchFamily="34" charset="0"/>
                <a:ea typeface="Calibri Light" pitchFamily="34" charset="-122"/>
                <a:cs typeface="Calibri Light" pitchFamily="34" charset="-120"/>
              </a:rPr>
              <a:t>01</a:t>
            </a:r>
            <a:endParaRPr lang="en-US" sz="3600" dirty="0"/>
          </a:p>
        </p:txBody>
      </p:sp>
      <p:sp>
        <p:nvSpPr>
          <p:cNvPr id="4" name="Text 2"/>
          <p:cNvSpPr/>
          <p:nvPr/>
        </p:nvSpPr>
        <p:spPr>
          <a:xfrm>
            <a:off x="1463040" y="1188720"/>
            <a:ext cx="6858000"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Where we left Sprint 2</a:t>
            </a:r>
            <a:endParaRPr lang="en-US" sz="1800" dirty="0"/>
          </a:p>
        </p:txBody>
      </p:sp>
      <p:sp>
        <p:nvSpPr>
          <p:cNvPr id="5" name="Text 3"/>
          <p:cNvSpPr/>
          <p:nvPr/>
        </p:nvSpPr>
        <p:spPr>
          <a:xfrm>
            <a:off x="1463040" y="1554480"/>
            <a:ext cx="6858000" cy="2743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recap · committed stack · live URL</a:t>
            </a:r>
            <a:endParaRPr lang="en-US" sz="1100" dirty="0"/>
          </a:p>
        </p:txBody>
      </p:sp>
      <p:sp>
        <p:nvSpPr>
          <p:cNvPr id="6" name="Text 4"/>
          <p:cNvSpPr/>
          <p:nvPr/>
        </p:nvSpPr>
        <p:spPr>
          <a:xfrm>
            <a:off x="457200" y="2011680"/>
            <a:ext cx="914400" cy="640080"/>
          </a:xfrm>
          <a:prstGeom prst="rect">
            <a:avLst/>
          </a:prstGeom>
          <a:noFill/>
          <a:ln/>
        </p:spPr>
        <p:txBody>
          <a:bodyPr wrap="square" lIns="0" tIns="0" rIns="0" bIns="0" rtlCol="0" anchor="ctr"/>
          <a:lstStyle/>
          <a:p>
            <a:pPr indent="0" marL="0">
              <a:buNone/>
            </a:pPr>
            <a:r>
              <a:rPr lang="en-US" sz="3600" dirty="0">
                <a:solidFill>
                  <a:srgbClr val="1A1A1A"/>
                </a:solidFill>
                <a:latin typeface="Calibri Light" pitchFamily="34" charset="0"/>
                <a:ea typeface="Calibri Light" pitchFamily="34" charset="-122"/>
                <a:cs typeface="Calibri Light" pitchFamily="34" charset="-120"/>
              </a:rPr>
              <a:t>02</a:t>
            </a:r>
            <a:endParaRPr lang="en-US" sz="3600" dirty="0"/>
          </a:p>
        </p:txBody>
      </p:sp>
      <p:sp>
        <p:nvSpPr>
          <p:cNvPr id="7" name="Text 5"/>
          <p:cNvSpPr/>
          <p:nvPr/>
        </p:nvSpPr>
        <p:spPr>
          <a:xfrm>
            <a:off x="1463040" y="2057400"/>
            <a:ext cx="6858000"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Sprint 3 progress</a:t>
            </a:r>
            <a:endParaRPr lang="en-US" sz="1800" dirty="0"/>
          </a:p>
        </p:txBody>
      </p:sp>
      <p:sp>
        <p:nvSpPr>
          <p:cNvPr id="8" name="Text 6"/>
          <p:cNvSpPr/>
          <p:nvPr/>
        </p:nvSpPr>
        <p:spPr>
          <a:xfrm>
            <a:off x="1463040" y="2423160"/>
            <a:ext cx="6858000" cy="2743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3D models in Blender · four stages rendered · DE and CEE</a:t>
            </a:r>
            <a:endParaRPr lang="en-US" sz="1100" dirty="0"/>
          </a:p>
        </p:txBody>
      </p:sp>
      <p:sp>
        <p:nvSpPr>
          <p:cNvPr id="9" name="Text 7"/>
          <p:cNvSpPr/>
          <p:nvPr/>
        </p:nvSpPr>
        <p:spPr>
          <a:xfrm>
            <a:off x="457200" y="2880360"/>
            <a:ext cx="914400" cy="640080"/>
          </a:xfrm>
          <a:prstGeom prst="rect">
            <a:avLst/>
          </a:prstGeom>
          <a:noFill/>
          <a:ln/>
        </p:spPr>
        <p:txBody>
          <a:bodyPr wrap="square" lIns="0" tIns="0" rIns="0" bIns="0" rtlCol="0" anchor="ctr"/>
          <a:lstStyle/>
          <a:p>
            <a:pPr indent="0" marL="0">
              <a:buNone/>
            </a:pPr>
            <a:r>
              <a:rPr lang="en-US" sz="3600" dirty="0">
                <a:solidFill>
                  <a:srgbClr val="1A1A1A"/>
                </a:solidFill>
                <a:latin typeface="Calibri Light" pitchFamily="34" charset="0"/>
                <a:ea typeface="Calibri Light" pitchFamily="34" charset="-122"/>
                <a:cs typeface="Calibri Light" pitchFamily="34" charset="-120"/>
              </a:rPr>
              <a:t>03</a:t>
            </a:r>
            <a:endParaRPr lang="en-US" sz="3600" dirty="0"/>
          </a:p>
        </p:txBody>
      </p:sp>
      <p:sp>
        <p:nvSpPr>
          <p:cNvPr id="10" name="Text 8"/>
          <p:cNvSpPr/>
          <p:nvPr/>
        </p:nvSpPr>
        <p:spPr>
          <a:xfrm>
            <a:off x="1463040" y="2926080"/>
            <a:ext cx="6858000"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Unity handoff</a:t>
            </a:r>
            <a:endParaRPr lang="en-US" sz="1800" dirty="0"/>
          </a:p>
        </p:txBody>
      </p:sp>
      <p:sp>
        <p:nvSpPr>
          <p:cNvPr id="11" name="Text 9"/>
          <p:cNvSpPr/>
          <p:nvPr/>
        </p:nvSpPr>
        <p:spPr>
          <a:xfrm>
            <a:off x="1463040" y="3291840"/>
            <a:ext cx="6858000" cy="2743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FBX export · URP scene · context dossier</a:t>
            </a:r>
            <a:endParaRPr lang="en-US" sz="1100" dirty="0"/>
          </a:p>
        </p:txBody>
      </p:sp>
      <p:sp>
        <p:nvSpPr>
          <p:cNvPr id="12" name="Text 10"/>
          <p:cNvSpPr/>
          <p:nvPr/>
        </p:nvSpPr>
        <p:spPr>
          <a:xfrm>
            <a:off x="457200" y="3749040"/>
            <a:ext cx="914400" cy="640080"/>
          </a:xfrm>
          <a:prstGeom prst="rect">
            <a:avLst/>
          </a:prstGeom>
          <a:noFill/>
          <a:ln/>
        </p:spPr>
        <p:txBody>
          <a:bodyPr wrap="square" lIns="0" tIns="0" rIns="0" bIns="0" rtlCol="0" anchor="ctr"/>
          <a:lstStyle/>
          <a:p>
            <a:pPr indent="0" marL="0">
              <a:buNone/>
            </a:pPr>
            <a:r>
              <a:rPr lang="en-US" sz="3600" dirty="0">
                <a:solidFill>
                  <a:srgbClr val="1A1A1A"/>
                </a:solidFill>
                <a:latin typeface="Calibri Light" pitchFamily="34" charset="0"/>
                <a:ea typeface="Calibri Light" pitchFamily="34" charset="-122"/>
                <a:cs typeface="Calibri Light" pitchFamily="34" charset="-120"/>
              </a:rPr>
              <a:t>04</a:t>
            </a:r>
            <a:endParaRPr lang="en-US" sz="3600" dirty="0"/>
          </a:p>
        </p:txBody>
      </p:sp>
      <p:sp>
        <p:nvSpPr>
          <p:cNvPr id="13" name="Text 11"/>
          <p:cNvSpPr/>
          <p:nvPr/>
        </p:nvSpPr>
        <p:spPr>
          <a:xfrm>
            <a:off x="1463040" y="3794760"/>
            <a:ext cx="6858000" cy="36576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What's next</a:t>
            </a:r>
            <a:endParaRPr lang="en-US" sz="1800" dirty="0"/>
          </a:p>
        </p:txBody>
      </p:sp>
      <p:sp>
        <p:nvSpPr>
          <p:cNvPr id="14" name="Text 12"/>
          <p:cNvSpPr/>
          <p:nvPr/>
        </p:nvSpPr>
        <p:spPr>
          <a:xfrm>
            <a:off x="1463040" y="4160520"/>
            <a:ext cx="6858000" cy="2743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Sprints 4–6 — Unity build, schema handoff, drill-down</a:t>
            </a:r>
            <a:endParaRPr lang="en-US" sz="1100" dirty="0"/>
          </a:p>
        </p:txBody>
      </p:sp>
      <p:sp>
        <p:nvSpPr>
          <p:cNvPr id="15" name="Text 13"/>
          <p:cNvSpPr/>
          <p:nvPr/>
        </p:nvSpPr>
        <p:spPr>
          <a:xfrm>
            <a:off x="457200" y="4773168"/>
            <a:ext cx="914400" cy="201168"/>
          </a:xfrm>
          <a:prstGeom prst="rect">
            <a:avLst/>
          </a:prstGeom>
          <a:noFill/>
          <a:ln/>
        </p:spPr>
        <p:txBody>
          <a:bodyPr wrap="square" lIns="0" tIns="0" rIns="0" bIns="0" rtlCol="0" anchor="ctr"/>
          <a:lstStyle/>
          <a:p>
            <a:pPr indent="0" marL="0">
              <a:buNone/>
            </a:pPr>
            <a:r>
              <a:rPr lang="en-US" sz="800" spc="300" kern="0" dirty="0">
                <a:solidFill>
                  <a:srgbClr val="7A7A7A"/>
                </a:solidFill>
                <a:latin typeface="Calibri" pitchFamily="34" charset="0"/>
                <a:ea typeface="Calibri" pitchFamily="34" charset="-122"/>
                <a:cs typeface="Calibri" pitchFamily="34" charset="-120"/>
              </a:rPr>
              <a:t>2 / 6</a:t>
            </a:r>
            <a:endParaRPr lang="en-US" sz="800" dirty="0"/>
          </a:p>
        </p:txBody>
      </p:sp>
      <p:sp>
        <p:nvSpPr>
          <p:cNvPr id="16" name="Text 14"/>
          <p:cNvSpPr/>
          <p:nvPr/>
        </p:nvSpPr>
        <p:spPr>
          <a:xfrm>
            <a:off x="7315200" y="4773168"/>
            <a:ext cx="1371600" cy="201168"/>
          </a:xfrm>
          <a:prstGeom prst="rect">
            <a:avLst/>
          </a:prstGeom>
          <a:noFill/>
          <a:ln/>
        </p:spPr>
        <p:txBody>
          <a:bodyPr wrap="square" lIns="0" tIns="0" rIns="0" bIns="0" rtlCol="0" anchor="ctr"/>
          <a:lstStyle/>
          <a:p>
            <a:pPr algn="r" indent="0" marL="0">
              <a:buNone/>
            </a:pPr>
            <a:r>
              <a:rPr lang="en-US" sz="800" spc="300" kern="0" dirty="0">
                <a:solidFill>
                  <a:srgbClr val="7A7A7A"/>
                </a:solidFill>
                <a:latin typeface="Calibri" pitchFamily="34" charset="0"/>
                <a:ea typeface="Calibri" pitchFamily="34" charset="-122"/>
                <a:cs typeface="Calibri" pitchFamily="34" charset="-120"/>
              </a:rPr>
              <a:t>BLADE LOOP   ·   SPRINT 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57200" y="411480"/>
            <a:ext cx="8229600" cy="256032"/>
          </a:xfrm>
          <a:prstGeom prst="rect">
            <a:avLst/>
          </a:prstGeom>
          <a:noFill/>
          <a:ln/>
        </p:spPr>
        <p:txBody>
          <a:bodyPr wrap="square" lIns="0" tIns="0" rIns="0" bIns="0" rtlCol="0" anchor="ctr"/>
          <a:lstStyle/>
          <a:p>
            <a:pPr indent="0" marL="0">
              <a:buNone/>
            </a:pPr>
            <a:r>
              <a:rPr lang="en-US" sz="900" b="1" spc="600" kern="0" dirty="0">
                <a:solidFill>
                  <a:srgbClr val="7A7A7A"/>
                </a:solidFill>
                <a:latin typeface="Calibri" pitchFamily="34" charset="0"/>
                <a:ea typeface="Calibri" pitchFamily="34" charset="-122"/>
                <a:cs typeface="Calibri" pitchFamily="34" charset="-120"/>
              </a:rPr>
              <a:t>SPRINT 3   ·   DIGITAL ENGINEERING</a:t>
            </a:r>
            <a:endParaRPr lang="en-US" sz="900" dirty="0"/>
          </a:p>
        </p:txBody>
      </p:sp>
      <p:sp>
        <p:nvSpPr>
          <p:cNvPr id="3" name="Text 1"/>
          <p:cNvSpPr/>
          <p:nvPr/>
        </p:nvSpPr>
        <p:spPr>
          <a:xfrm>
            <a:off x="457200" y="731520"/>
            <a:ext cx="8229600" cy="365760"/>
          </a:xfrm>
          <a:prstGeom prst="rect">
            <a:avLst/>
          </a:prstGeom>
          <a:noFill/>
          <a:ln/>
        </p:spPr>
        <p:txBody>
          <a:bodyPr wrap="square" lIns="0" tIns="0" rIns="0" bIns="0" rtlCol="0" anchor="ctr"/>
          <a:lstStyle/>
          <a:p>
            <a:pPr indent="0" marL="0">
              <a:buNone/>
            </a:pPr>
            <a:r>
              <a:rPr lang="en-US" sz="2200" dirty="0">
                <a:solidFill>
                  <a:srgbClr val="1A1A1A"/>
                </a:solidFill>
                <a:latin typeface="Calibri Light" pitchFamily="34" charset="0"/>
                <a:ea typeface="Calibri Light" pitchFamily="34" charset="-122"/>
                <a:cs typeface="Calibri Light" pitchFamily="34" charset="-120"/>
              </a:rPr>
              <a:t>Four process stages, modelled in Blender.</a:t>
            </a:r>
            <a:endParaRPr lang="en-US" sz="2200" dirty="0"/>
          </a:p>
        </p:txBody>
      </p:sp>
      <p:sp>
        <p:nvSpPr>
          <p:cNvPr id="4" name="Text 2"/>
          <p:cNvSpPr/>
          <p:nvPr/>
        </p:nvSpPr>
        <p:spPr>
          <a:xfrm>
            <a:off x="457200" y="1143000"/>
            <a:ext cx="8229600" cy="2743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1,389 named objects · six reference renders saved · source .blend committed to repo.</a:t>
            </a:r>
            <a:endParaRPr lang="en-US" sz="1100" dirty="0"/>
          </a:p>
        </p:txBody>
      </p:sp>
      <p:pic>
        <p:nvPicPr>
          <p:cNvPr id="5" name="DE Hero Render"/>
          <p:cNvPicPr>
            <a:picLocks noChangeAspect="1"/>
          </p:cNvPicPr>
          <p:nvPr/>
        </p:nvPicPr>
        <p:blipFill>
          <a:blip r:embed="rId3"/>
          <a:stretch>
            <a:fillRect/>
          </a:stretch>
        </p:blipFill>
        <p:spPr>
          <a:xfrm>
            <a:off x="457200" y="1691640"/>
            <a:ext cx="8229600" cy="2892630"/>
          </a:xfrm>
          <a:prstGeom prst="rect">
            <a:avLst/>
          </a:prstGeom>
        </p:spPr>
      </p:pic>
      <p:sp>
        <p:nvSpPr>
          <p:cNvPr id="7" name="Text 5"/>
          <p:cNvSpPr/>
          <p:nvPr/>
        </p:nvSpPr>
        <p:spPr>
          <a:xfrm>
            <a:off x="457200" y="4773168"/>
            <a:ext cx="914400" cy="201168"/>
          </a:xfrm>
          <a:prstGeom prst="rect">
            <a:avLst/>
          </a:prstGeom>
          <a:noFill/>
          <a:ln/>
        </p:spPr>
        <p:txBody>
          <a:bodyPr wrap="square" lIns="0" tIns="0" rIns="0" bIns="0" rtlCol="0" anchor="ctr"/>
          <a:lstStyle/>
          <a:p>
            <a:pPr indent="0" marL="0">
              <a:buNone/>
            </a:pPr>
            <a:r>
              <a:rPr lang="en-US" sz="800" spc="300" kern="0" dirty="0">
                <a:solidFill>
                  <a:srgbClr val="7A7A7A"/>
                </a:solidFill>
                <a:latin typeface="Calibri" pitchFamily="34" charset="0"/>
                <a:ea typeface="Calibri" pitchFamily="34" charset="-122"/>
                <a:cs typeface="Calibri" pitchFamily="34" charset="-120"/>
              </a:rPr>
              <a:t>3 / 6</a:t>
            </a:r>
            <a:endParaRPr lang="en-US" sz="800" dirty="0"/>
          </a:p>
        </p:txBody>
      </p:sp>
      <p:sp>
        <p:nvSpPr>
          <p:cNvPr id="8" name="Text 6"/>
          <p:cNvSpPr/>
          <p:nvPr/>
        </p:nvSpPr>
        <p:spPr>
          <a:xfrm>
            <a:off x="7315200" y="4773168"/>
            <a:ext cx="1371600" cy="201168"/>
          </a:xfrm>
          <a:prstGeom prst="rect">
            <a:avLst/>
          </a:prstGeom>
          <a:noFill/>
          <a:ln/>
        </p:spPr>
        <p:txBody>
          <a:bodyPr wrap="square" lIns="0" tIns="0" rIns="0" bIns="0" rtlCol="0" anchor="ctr"/>
          <a:lstStyle/>
          <a:p>
            <a:pPr algn="r" indent="0" marL="0">
              <a:buNone/>
            </a:pPr>
            <a:r>
              <a:rPr lang="en-US" sz="800" spc="300" kern="0" dirty="0">
                <a:solidFill>
                  <a:srgbClr val="7A7A7A"/>
                </a:solidFill>
                <a:latin typeface="Calibri" pitchFamily="34" charset="0"/>
                <a:ea typeface="Calibri" pitchFamily="34" charset="-122"/>
                <a:cs typeface="Calibri" pitchFamily="34" charset="-120"/>
              </a:rPr>
              <a:t>BLADE LOOP   ·   SPRINT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57200" y="411480"/>
            <a:ext cx="8229600" cy="256032"/>
          </a:xfrm>
          <a:prstGeom prst="rect">
            <a:avLst/>
          </a:prstGeom>
          <a:noFill/>
          <a:ln/>
        </p:spPr>
        <p:txBody>
          <a:bodyPr wrap="square" lIns="0" tIns="0" rIns="0" bIns="0" rtlCol="0" anchor="ctr"/>
          <a:lstStyle/>
          <a:p>
            <a:pPr indent="0" marL="0">
              <a:buNone/>
            </a:pPr>
            <a:r>
              <a:rPr lang="en-US" sz="900" b="1" spc="600" kern="0" dirty="0">
                <a:solidFill>
                  <a:srgbClr val="7A7A7A"/>
                </a:solidFill>
                <a:latin typeface="Calibri" pitchFamily="34" charset="0"/>
                <a:ea typeface="Calibri" pitchFamily="34" charset="-122"/>
                <a:cs typeface="Calibri" pitchFamily="34" charset="-120"/>
              </a:rPr>
              <a:t>WHAT'S NEXT</a:t>
            </a:r>
            <a:endParaRPr lang="en-US" sz="900" dirty="0"/>
          </a:p>
        </p:txBody>
      </p:sp>
      <p:sp>
        <p:nvSpPr>
          <p:cNvPr id="3" name="Text 1"/>
          <p:cNvSpPr/>
          <p:nvPr/>
        </p:nvSpPr>
        <p:spPr>
          <a:xfrm>
            <a:off x="457200" y="777240"/>
            <a:ext cx="8229600" cy="640080"/>
          </a:xfrm>
          <a:prstGeom prst="rect">
            <a:avLst/>
          </a:prstGeom>
          <a:noFill/>
          <a:ln/>
        </p:spPr>
        <p:txBody>
          <a:bodyPr wrap="square" lIns="0" tIns="0" rIns="0" bIns="0" rtlCol="0" anchor="ctr"/>
          <a:lstStyle/>
          <a:p>
            <a:pPr indent="0" marL="0">
              <a:buNone/>
            </a:pPr>
            <a:r>
              <a:rPr lang="en-US" sz="3800" dirty="0">
                <a:solidFill>
                  <a:srgbClr val="1A1A1A"/>
                </a:solidFill>
                <a:latin typeface="Calibri Light" pitchFamily="34" charset="0"/>
                <a:ea typeface="Calibri Light" pitchFamily="34" charset="-122"/>
                <a:cs typeface="Calibri Light" pitchFamily="34" charset="-120"/>
              </a:rPr>
              <a:t>Three sprints to land it.</a:t>
            </a:r>
            <a:endParaRPr lang="en-US" sz="3800" dirty="0"/>
          </a:p>
        </p:txBody>
      </p:sp>
      <p:sp>
        <p:nvSpPr>
          <p:cNvPr id="4" name="Shape 2"/>
          <p:cNvSpPr/>
          <p:nvPr/>
        </p:nvSpPr>
        <p:spPr>
          <a:xfrm>
            <a:off x="457200" y="1828800"/>
            <a:ext cx="2651760" cy="2103120"/>
          </a:xfrm>
          <a:prstGeom prst="rect">
            <a:avLst/>
          </a:prstGeom>
          <a:solidFill>
            <a:srgbClr val="F6F4EE"/>
          </a:solidFill>
          <a:ln w="6350">
            <a:solidFill>
              <a:srgbClr val="D6D2C5"/>
            </a:solidFill>
            <a:prstDash val="solid"/>
          </a:ln>
        </p:spPr>
        <p:txBody>
          <a:bodyPr/>
          <a:p/>
        </p:txBody>
      </p:sp>
      <p:sp>
        <p:nvSpPr>
          <p:cNvPr id="5" name="Text 3"/>
          <p:cNvSpPr/>
          <p:nvPr/>
        </p:nvSpPr>
        <p:spPr>
          <a:xfrm>
            <a:off x="685800" y="2011680"/>
            <a:ext cx="2286000" cy="256032"/>
          </a:xfrm>
          <a:prstGeom prst="rect">
            <a:avLst/>
          </a:prstGeom>
          <a:noFill/>
          <a:ln/>
        </p:spPr>
        <p:txBody>
          <a:bodyPr wrap="square" lIns="0" tIns="0" rIns="0" bIns="0" rtlCol="0" anchor="ctr"/>
          <a:lstStyle/>
          <a:p>
            <a:pPr indent="0" marL="0">
              <a:buNone/>
            </a:pPr>
            <a:r>
              <a:rPr lang="en-US" sz="900" b="1" spc="500" kern="0" dirty="0">
                <a:solidFill>
                  <a:srgbClr val="7A7A7A"/>
                </a:solidFill>
                <a:latin typeface="Calibri" pitchFamily="34" charset="0"/>
                <a:ea typeface="Calibri" pitchFamily="34" charset="-122"/>
                <a:cs typeface="Calibri" pitchFamily="34" charset="-120"/>
              </a:rPr>
              <a:t>SPRINT 4   ·   19 JUN</a:t>
            </a:r>
            <a:endParaRPr lang="en-US" sz="900" dirty="0"/>
          </a:p>
        </p:txBody>
      </p:sp>
      <p:sp>
        <p:nvSpPr>
          <p:cNvPr id="6" name="Text 4"/>
          <p:cNvSpPr/>
          <p:nvPr/>
        </p:nvSpPr>
        <p:spPr>
          <a:xfrm>
            <a:off x="685800" y="2331720"/>
            <a:ext cx="2286000" cy="411480"/>
          </a:xfrm>
          <a:prstGeom prst="rect">
            <a:avLst/>
          </a:prstGeom>
          <a:noFill/>
          <a:ln/>
        </p:spPr>
        <p:txBody>
          <a:bodyPr wrap="square" lIns="0" tIns="0" rIns="0" bIns="0" rtlCol="0" anchor="ctr"/>
          <a:lstStyle/>
          <a:p>
            <a:pPr indent="0" marL="0">
              <a:buNone/>
            </a:pPr>
            <a:r>
              <a:rPr lang="en-US" sz="2200" dirty="0">
                <a:solidFill>
                  <a:srgbClr val="1A1A1A"/>
                </a:solidFill>
                <a:latin typeface="Calibri Light" pitchFamily="34" charset="0"/>
                <a:ea typeface="Calibri Light" pitchFamily="34" charset="-122"/>
                <a:cs typeface="Calibri Light" pitchFamily="34" charset="-120"/>
              </a:rPr>
              <a:t>Unity scene</a:t>
            </a:r>
            <a:endParaRPr lang="en-US" sz="2200" dirty="0"/>
          </a:p>
        </p:txBody>
      </p:sp>
      <p:sp>
        <p:nvSpPr>
          <p:cNvPr id="7" name="Text 5"/>
          <p:cNvSpPr/>
          <p:nvPr/>
        </p:nvSpPr>
        <p:spPr>
          <a:xfrm>
            <a:off x="685800" y="2880360"/>
            <a:ext cx="2286000" cy="9601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URP project setup, FBX import of all four stages, basic WebGL build with stage transitions.</a:t>
            </a:r>
            <a:endParaRPr lang="en-US" sz="1100" dirty="0"/>
          </a:p>
        </p:txBody>
      </p:sp>
      <p:sp>
        <p:nvSpPr>
          <p:cNvPr id="8" name="Shape 6"/>
          <p:cNvSpPr/>
          <p:nvPr/>
        </p:nvSpPr>
        <p:spPr>
          <a:xfrm>
            <a:off x="3246120" y="1828800"/>
            <a:ext cx="2651760" cy="2103120"/>
          </a:xfrm>
          <a:prstGeom prst="rect">
            <a:avLst/>
          </a:prstGeom>
          <a:solidFill>
            <a:srgbClr val="F6F4EE"/>
          </a:solidFill>
          <a:ln w="6350">
            <a:solidFill>
              <a:srgbClr val="D6D2C5"/>
            </a:solidFill>
            <a:prstDash val="solid"/>
          </a:ln>
        </p:spPr>
        <p:txBody>
          <a:bodyPr/>
          <a:p/>
        </p:txBody>
      </p:sp>
      <p:sp>
        <p:nvSpPr>
          <p:cNvPr id="9" name="Text 7"/>
          <p:cNvSpPr/>
          <p:nvPr/>
        </p:nvSpPr>
        <p:spPr>
          <a:xfrm>
            <a:off x="3474720" y="2011680"/>
            <a:ext cx="2286000" cy="256032"/>
          </a:xfrm>
          <a:prstGeom prst="rect">
            <a:avLst/>
          </a:prstGeom>
          <a:noFill/>
          <a:ln/>
        </p:spPr>
        <p:txBody>
          <a:bodyPr wrap="square" lIns="0" tIns="0" rIns="0" bIns="0" rtlCol="0" anchor="ctr"/>
          <a:lstStyle/>
          <a:p>
            <a:pPr indent="0" marL="0">
              <a:buNone/>
            </a:pPr>
            <a:r>
              <a:rPr lang="en-US" sz="900" b="1" spc="500" kern="0" dirty="0">
                <a:solidFill>
                  <a:srgbClr val="7A7A7A"/>
                </a:solidFill>
                <a:latin typeface="Calibri" pitchFamily="34" charset="0"/>
                <a:ea typeface="Calibri" pitchFamily="34" charset="-122"/>
                <a:cs typeface="Calibri" pitchFamily="34" charset="-120"/>
              </a:rPr>
              <a:t>SPRINT 5   ·   03 JUL</a:t>
            </a:r>
            <a:endParaRPr lang="en-US" sz="900" dirty="0"/>
          </a:p>
        </p:txBody>
      </p:sp>
      <p:sp>
        <p:nvSpPr>
          <p:cNvPr id="10" name="Text 8"/>
          <p:cNvSpPr/>
          <p:nvPr/>
        </p:nvSpPr>
        <p:spPr>
          <a:xfrm>
            <a:off x="3474720" y="2331720"/>
            <a:ext cx="2286000" cy="411480"/>
          </a:xfrm>
          <a:prstGeom prst="rect">
            <a:avLst/>
          </a:prstGeom>
          <a:noFill/>
          <a:ln/>
        </p:spPr>
        <p:txBody>
          <a:bodyPr wrap="square" lIns="0" tIns="0" rIns="0" bIns="0" rtlCol="0" anchor="ctr"/>
          <a:lstStyle/>
          <a:p>
            <a:pPr indent="0" marL="0">
              <a:buNone/>
            </a:pPr>
            <a:r>
              <a:rPr lang="en-US" sz="2200" dirty="0">
                <a:solidFill>
                  <a:srgbClr val="1A1A1A"/>
                </a:solidFill>
                <a:latin typeface="Calibri Light" pitchFamily="34" charset="0"/>
                <a:ea typeface="Calibri Light" pitchFamily="34" charset="-122"/>
                <a:cs typeface="Calibri Light" pitchFamily="34" charset="-120"/>
              </a:rPr>
              <a:t>CEE → DE handoff</a:t>
            </a:r>
            <a:endParaRPr lang="en-US" sz="2200" dirty="0"/>
          </a:p>
        </p:txBody>
      </p:sp>
      <p:sp>
        <p:nvSpPr>
          <p:cNvPr id="11" name="Text 9"/>
          <p:cNvSpPr/>
          <p:nvPr/>
        </p:nvSpPr>
        <p:spPr>
          <a:xfrm>
            <a:off x="3474720" y="2880360"/>
            <a:ext cx="2286000" cy="9601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Surrogate equations distilled from the DWSIM model. JSON data schema locked.</a:t>
            </a:r>
            <a:endParaRPr lang="en-US" sz="1100" dirty="0"/>
          </a:p>
        </p:txBody>
      </p:sp>
      <p:sp>
        <p:nvSpPr>
          <p:cNvPr id="12" name="Shape 10"/>
          <p:cNvSpPr/>
          <p:nvPr/>
        </p:nvSpPr>
        <p:spPr>
          <a:xfrm>
            <a:off x="6035040" y="1828800"/>
            <a:ext cx="2651760" cy="2103120"/>
          </a:xfrm>
          <a:prstGeom prst="rect">
            <a:avLst/>
          </a:prstGeom>
          <a:solidFill>
            <a:srgbClr val="F6F4EE"/>
          </a:solidFill>
          <a:ln w="6350">
            <a:solidFill>
              <a:srgbClr val="D6D2C5"/>
            </a:solidFill>
            <a:prstDash val="solid"/>
          </a:ln>
        </p:spPr>
        <p:txBody>
          <a:bodyPr/>
          <a:p/>
        </p:txBody>
      </p:sp>
      <p:sp>
        <p:nvSpPr>
          <p:cNvPr id="13" name="Text 11"/>
          <p:cNvSpPr/>
          <p:nvPr/>
        </p:nvSpPr>
        <p:spPr>
          <a:xfrm>
            <a:off x="6263640" y="2011680"/>
            <a:ext cx="2286000" cy="256032"/>
          </a:xfrm>
          <a:prstGeom prst="rect">
            <a:avLst/>
          </a:prstGeom>
          <a:noFill/>
          <a:ln/>
        </p:spPr>
        <p:txBody>
          <a:bodyPr wrap="square" lIns="0" tIns="0" rIns="0" bIns="0" rtlCol="0" anchor="ctr"/>
          <a:lstStyle/>
          <a:p>
            <a:pPr indent="0" marL="0">
              <a:buNone/>
            </a:pPr>
            <a:r>
              <a:rPr lang="en-US" sz="900" b="1" spc="500" kern="0" dirty="0">
                <a:solidFill>
                  <a:srgbClr val="7A7A7A"/>
                </a:solidFill>
                <a:latin typeface="Calibri" pitchFamily="34" charset="0"/>
                <a:ea typeface="Calibri" pitchFamily="34" charset="-122"/>
                <a:cs typeface="Calibri" pitchFamily="34" charset="-120"/>
              </a:rPr>
              <a:t>SPRINT 6   ·   17 JUL</a:t>
            </a:r>
            <a:endParaRPr lang="en-US" sz="900" dirty="0"/>
          </a:p>
        </p:txBody>
      </p:sp>
      <p:sp>
        <p:nvSpPr>
          <p:cNvPr id="14" name="Text 12"/>
          <p:cNvSpPr/>
          <p:nvPr/>
        </p:nvSpPr>
        <p:spPr>
          <a:xfrm>
            <a:off x="6263640" y="2331720"/>
            <a:ext cx="2286000" cy="411480"/>
          </a:xfrm>
          <a:prstGeom prst="rect">
            <a:avLst/>
          </a:prstGeom>
          <a:noFill/>
          <a:ln/>
        </p:spPr>
        <p:txBody>
          <a:bodyPr wrap="square" lIns="0" tIns="0" rIns="0" bIns="0" rtlCol="0" anchor="ctr"/>
          <a:lstStyle/>
          <a:p>
            <a:pPr indent="0" marL="0">
              <a:buNone/>
            </a:pPr>
            <a:r>
              <a:rPr lang="en-US" sz="2200" dirty="0">
                <a:solidFill>
                  <a:srgbClr val="1A1A1A"/>
                </a:solidFill>
                <a:latin typeface="Calibri Light" pitchFamily="34" charset="0"/>
                <a:ea typeface="Calibri Light" pitchFamily="34" charset="-122"/>
                <a:cs typeface="Calibri Light" pitchFamily="34" charset="-120"/>
              </a:rPr>
              <a:t>Drill-down scenes</a:t>
            </a:r>
            <a:endParaRPr lang="en-US" sz="2200" dirty="0"/>
          </a:p>
        </p:txBody>
      </p:sp>
      <p:sp>
        <p:nvSpPr>
          <p:cNvPr id="15" name="Text 13"/>
          <p:cNvSpPr/>
          <p:nvPr/>
        </p:nvSpPr>
        <p:spPr>
          <a:xfrm>
            <a:off x="6263640" y="2880360"/>
            <a:ext cx="2286000" cy="9601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Per-stage interactive scenes with parameter sliders and live KPI calculations.</a:t>
            </a:r>
            <a:endParaRPr lang="en-US" sz="1100" dirty="0"/>
          </a:p>
        </p:txBody>
      </p:sp>
      <p:sp>
        <p:nvSpPr>
          <p:cNvPr id="16" name="Text 14"/>
          <p:cNvSpPr/>
          <p:nvPr/>
        </p:nvSpPr>
        <p:spPr>
          <a:xfrm>
            <a:off x="457200" y="4160520"/>
            <a:ext cx="8229600" cy="365760"/>
          </a:xfrm>
          <a:prstGeom prst="rect">
            <a:avLst/>
          </a:prstGeom>
          <a:noFill/>
          <a:ln/>
        </p:spPr>
        <p:txBody>
          <a:bodyPr wrap="square" lIns="0" tIns="0" rIns="0" bIns="0" rtlCol="0" anchor="ctr"/>
          <a:lstStyle/>
          <a:p>
            <a:pPr indent="0" marL="0">
              <a:buNone/>
            </a:pPr>
            <a:r>
              <a:rPr lang="en-US" sz="1100" i="1" dirty="0">
                <a:solidFill>
                  <a:srgbClr val="1A1A1A"/>
                </a:solidFill>
                <a:latin typeface="Calibri" pitchFamily="34" charset="0"/>
                <a:ea typeface="Calibri" pitchFamily="34" charset="-122"/>
                <a:cs typeface="Calibri" pitchFamily="34" charset="-120"/>
              </a:rPr>
              <a:t>Live URL stays the single source of truth — ritwika-s11.github.io/windecee-bladeloop</a:t>
            </a:r>
            <a:endParaRPr lang="en-US" sz="1100" dirty="0"/>
          </a:p>
        </p:txBody>
      </p:sp>
      <p:sp>
        <p:nvSpPr>
          <p:cNvPr id="17" name="Text 15"/>
          <p:cNvSpPr/>
          <p:nvPr/>
        </p:nvSpPr>
        <p:spPr>
          <a:xfrm>
            <a:off x="457200" y="4773168"/>
            <a:ext cx="914400" cy="201168"/>
          </a:xfrm>
          <a:prstGeom prst="rect">
            <a:avLst/>
          </a:prstGeom>
          <a:noFill/>
          <a:ln/>
        </p:spPr>
        <p:txBody>
          <a:bodyPr wrap="square" lIns="0" tIns="0" rIns="0" bIns="0" rtlCol="0" anchor="ctr"/>
          <a:lstStyle/>
          <a:p>
            <a:pPr indent="0" marL="0">
              <a:buNone/>
            </a:pPr>
            <a:r>
              <a:rPr lang="en-US" sz="800" spc="300" kern="0" dirty="0">
                <a:solidFill>
                  <a:srgbClr val="7A7A7A"/>
                </a:solidFill>
                <a:latin typeface="Calibri" pitchFamily="34" charset="0"/>
                <a:ea typeface="Calibri" pitchFamily="34" charset="-122"/>
                <a:cs typeface="Calibri" pitchFamily="34" charset="-120"/>
              </a:rPr>
              <a:t>5 / 6</a:t>
            </a:r>
            <a:endParaRPr lang="en-US" sz="800" dirty="0"/>
          </a:p>
        </p:txBody>
      </p:sp>
      <p:sp>
        <p:nvSpPr>
          <p:cNvPr id="18" name="Text 16"/>
          <p:cNvSpPr/>
          <p:nvPr/>
        </p:nvSpPr>
        <p:spPr>
          <a:xfrm>
            <a:off x="7315200" y="4773168"/>
            <a:ext cx="1371600" cy="201168"/>
          </a:xfrm>
          <a:prstGeom prst="rect">
            <a:avLst/>
          </a:prstGeom>
          <a:noFill/>
          <a:ln/>
        </p:spPr>
        <p:txBody>
          <a:bodyPr wrap="square" lIns="0" tIns="0" rIns="0" bIns="0" rtlCol="0" anchor="ctr"/>
          <a:lstStyle/>
          <a:p>
            <a:pPr algn="r" indent="0" marL="0">
              <a:buNone/>
            </a:pPr>
            <a:r>
              <a:rPr lang="en-US" sz="800" spc="300" kern="0" dirty="0">
                <a:solidFill>
                  <a:srgbClr val="7A7A7A"/>
                </a:solidFill>
                <a:latin typeface="Calibri" pitchFamily="34" charset="0"/>
                <a:ea typeface="Calibri" pitchFamily="34" charset="-122"/>
                <a:cs typeface="Calibri" pitchFamily="34" charset="-120"/>
              </a:rPr>
              <a:t>BLADE LOOP   ·   SPRINT 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457200" y="411480"/>
            <a:ext cx="8229600" cy="256032"/>
          </a:xfrm>
          <a:prstGeom prst="rect">
            <a:avLst/>
          </a:prstGeom>
          <a:noFill/>
          <a:ln/>
        </p:spPr>
        <p:txBody>
          <a:bodyPr wrap="square" lIns="0" tIns="0" rIns="0" bIns="0" rtlCol="0" anchor="ctr"/>
          <a:lstStyle/>
          <a:p>
            <a:pPr indent="0" marL="0">
              <a:buNone/>
            </a:pPr>
            <a:r>
              <a:rPr lang="en-US" sz="900" b="1" spc="600" kern="0" dirty="0">
                <a:solidFill>
                  <a:srgbClr val="7A7A7A"/>
                </a:solidFill>
                <a:latin typeface="Calibri" pitchFamily="34" charset="0"/>
                <a:ea typeface="Calibri" pitchFamily="34" charset="-122"/>
                <a:cs typeface="Calibri" pitchFamily="34" charset="-120"/>
              </a:rPr>
              <a:t>QUESTIONS?</a:t>
            </a:r>
            <a:endParaRPr lang="en-US" sz="900" dirty="0"/>
          </a:p>
        </p:txBody>
      </p:sp>
      <p:sp>
        <p:nvSpPr>
          <p:cNvPr id="3" name="Text 1"/>
          <p:cNvSpPr/>
          <p:nvPr/>
        </p:nvSpPr>
        <p:spPr>
          <a:xfrm>
            <a:off x="457200" y="1828800"/>
            <a:ext cx="8229600" cy="1280160"/>
          </a:xfrm>
          <a:prstGeom prst="rect">
            <a:avLst/>
          </a:prstGeom>
          <a:noFill/>
          <a:ln/>
        </p:spPr>
        <p:txBody>
          <a:bodyPr wrap="square" lIns="0" tIns="0" rIns="0" bIns="0" rtlCol="0" anchor="ctr"/>
          <a:lstStyle/>
          <a:p>
            <a:pPr algn="ctr" indent="0" marL="0">
              <a:buNone/>
            </a:pPr>
            <a:r>
              <a:rPr lang="en-US" sz="7200" spc="-100" kern="0" dirty="0">
                <a:solidFill>
                  <a:srgbClr val="1A1A1A"/>
                </a:solidFill>
                <a:latin typeface="Calibri Light" pitchFamily="34" charset="0"/>
                <a:ea typeface="Calibri Light" pitchFamily="34" charset="-122"/>
                <a:cs typeface="Calibri Light" pitchFamily="34" charset="-120"/>
              </a:rPr>
              <a:t>Thank you.</a:t>
            </a:r>
            <a:endParaRPr lang="en-US" sz="7200" dirty="0"/>
          </a:p>
        </p:txBody>
      </p:sp>
      <p:sp>
        <p:nvSpPr>
          <p:cNvPr id="4" name="Text 2"/>
          <p:cNvSpPr/>
          <p:nvPr/>
        </p:nvSpPr>
        <p:spPr>
          <a:xfrm>
            <a:off x="457200" y="3200400"/>
            <a:ext cx="8229600" cy="274320"/>
          </a:xfrm>
          <a:prstGeom prst="rect">
            <a:avLst/>
          </a:prstGeom>
          <a:noFill/>
          <a:ln/>
        </p:spPr>
        <p:txBody>
          <a:bodyPr wrap="square" lIns="0" tIns="0" rIns="0" bIns="0" rtlCol="0" anchor="ctr"/>
          <a:lstStyle/>
          <a:p>
            <a:pPr algn="ctr" indent="0" marL="0">
              <a:buNone/>
            </a:pPr>
            <a:r>
              <a:rPr lang="en-US" sz="1000" b="1" spc="600" kern="0" dirty="0">
                <a:solidFill>
                  <a:srgbClr val="7A7A7A"/>
                </a:solidFill>
                <a:latin typeface="Calibri" pitchFamily="34" charset="0"/>
                <a:ea typeface="Calibri" pitchFamily="34" charset="-122"/>
                <a:cs typeface="Calibri" pitchFamily="34" charset="-120"/>
              </a:rPr>
              <a:t>GROUP 4 — WinDECEE</a:t>
            </a:r>
            <a:endParaRPr lang="en-US" sz="1000" dirty="0"/>
          </a:p>
        </p:txBody>
      </p:sp>
      <p:sp>
        <p:nvSpPr>
          <p:cNvPr id="5" name="Text 3"/>
          <p:cNvSpPr/>
          <p:nvPr/>
        </p:nvSpPr>
        <p:spPr>
          <a:xfrm>
            <a:off x="457200" y="3520440"/>
            <a:ext cx="8229600" cy="274320"/>
          </a:xfrm>
          <a:prstGeom prst="rect">
            <a:avLst/>
          </a:prstGeom>
          <a:noFill/>
          <a:ln/>
        </p:spPr>
        <p:txBody>
          <a:bodyPr wrap="square" lIns="0" tIns="0" rIns="0" bIns="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Ritwika  ·  Anirban  ·  Akshat  ·  Sharan  ·  Anjani  ·  Hari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WinDECEE — Sprint 1</dc:title>
  <dc:subject>PptxGenJS Presentation</dc:subject>
  <dc:creator>Group 4 — WinDECEE</dc:creator>
  <cp:lastModifiedBy>Group 4 — WinDECEE</cp:lastModifiedBy>
  <cp:revision>1</cp:revision>
  <dcterms:created xsi:type="dcterms:W3CDTF">2026-05-08T00:36:45Z</dcterms:created>
  <dcterms:modified xsi:type="dcterms:W3CDTF">2026-05-08T00:36:45Z</dcterms:modified>
</cp:coreProperties>
</file>